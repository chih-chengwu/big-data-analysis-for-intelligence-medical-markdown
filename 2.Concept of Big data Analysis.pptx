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1" r:id="rId5"/>
    <p:sldId id="264" r:id="rId6"/>
    <p:sldId id="262" r:id="rId7"/>
    <p:sldId id="268" r:id="rId8"/>
    <p:sldId id="270" r:id="rId9"/>
    <p:sldId id="263" r:id="rId10"/>
    <p:sldId id="267" r:id="rId11"/>
    <p:sldId id="266" r:id="rId12"/>
    <p:sldId id="269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3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3AF0-9BCE-4AF9-8AAB-F0E4C55F729A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D7B5-3272-47E9-A7C3-422D8A2AC3B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7" name="圖片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913"/>
            <a:ext cx="12192000" cy="6878913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622300" y="348204"/>
            <a:ext cx="10960100" cy="188664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版面配置區 10"/>
          <p:cNvSpPr>
            <a:spLocks noGrp="1"/>
          </p:cNvSpPr>
          <p:nvPr>
            <p:ph type="body" sz="quarter" idx="13" hasCustomPrompt="1"/>
          </p:nvPr>
        </p:nvSpPr>
        <p:spPr>
          <a:xfrm>
            <a:off x="793750" y="1418560"/>
            <a:ext cx="7029450" cy="629412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>
            <a:lvl1pPr marL="0" indent="0" algn="l">
              <a:buNone/>
              <a:defRPr sz="36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服務機構單位</a:t>
            </a:r>
          </a:p>
        </p:txBody>
      </p:sp>
      <p:sp>
        <p:nvSpPr>
          <p:cNvPr id="21" name="文字版面配置區 10"/>
          <p:cNvSpPr>
            <a:spLocks noGrp="1"/>
          </p:cNvSpPr>
          <p:nvPr>
            <p:ph type="body" sz="quarter" idx="14" hasCustomPrompt="1"/>
          </p:nvPr>
        </p:nvSpPr>
        <p:spPr>
          <a:xfrm>
            <a:off x="793750" y="481554"/>
            <a:ext cx="10560050" cy="718693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 marL="0" indent="0" algn="ctr">
              <a:buNone/>
              <a:defRPr sz="48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主標題</a:t>
            </a:r>
          </a:p>
        </p:txBody>
      </p:sp>
      <p:sp>
        <p:nvSpPr>
          <p:cNvPr id="22" name="文字版面配置區 10"/>
          <p:cNvSpPr>
            <a:spLocks noGrp="1"/>
          </p:cNvSpPr>
          <p:nvPr>
            <p:ph type="body" sz="quarter" idx="15" hasCustomPrompt="1"/>
          </p:nvPr>
        </p:nvSpPr>
        <p:spPr>
          <a:xfrm>
            <a:off x="8153400" y="1491649"/>
            <a:ext cx="3162300" cy="556323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>
            <a:lvl1pPr marL="0" indent="0" algn="l">
              <a:buNone/>
              <a:defRPr sz="36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講師姓名</a:t>
            </a:r>
          </a:p>
        </p:txBody>
      </p:sp>
    </p:spTree>
    <p:extLst>
      <p:ext uri="{BB962C8B-B14F-4D97-AF65-F5344CB8AC3E}">
        <p14:creationId xmlns:p14="http://schemas.microsoft.com/office/powerpoint/2010/main" val="1333795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3AF0-9BCE-4AF9-8AAB-F0E4C55F729A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D7B5-3272-47E9-A7C3-422D8A2AC3B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913"/>
            <a:ext cx="12192000" cy="687891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矩形 8"/>
          <p:cNvSpPr/>
          <p:nvPr userDrawn="1"/>
        </p:nvSpPr>
        <p:spPr>
          <a:xfrm>
            <a:off x="838200" y="1389338"/>
            <a:ext cx="10744200" cy="5240062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標題 1"/>
          <p:cNvSpPr>
            <a:spLocks noGrp="1"/>
          </p:cNvSpPr>
          <p:nvPr>
            <p:ph type="title" hasCustomPrompt="1"/>
          </p:nvPr>
        </p:nvSpPr>
        <p:spPr>
          <a:xfrm>
            <a:off x="838200" y="200025"/>
            <a:ext cx="10744200" cy="1146175"/>
          </a:xfrm>
          <a:solidFill>
            <a:schemeClr val="bg1"/>
          </a:solidFill>
        </p:spPr>
        <p:txBody>
          <a:bodyPr/>
          <a:lstStyle>
            <a:lvl1pPr algn="ctr"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95400" y="1574800"/>
            <a:ext cx="9232900" cy="749300"/>
          </a:xfrm>
        </p:spPr>
        <p:txBody>
          <a:bodyPr>
            <a:normAutofit/>
          </a:bodyPr>
          <a:lstStyle>
            <a:lvl1pPr>
              <a:defRPr sz="32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目錄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5" name="文字版面配置區 12"/>
          <p:cNvSpPr>
            <a:spLocks noGrp="1"/>
          </p:cNvSpPr>
          <p:nvPr>
            <p:ph type="body" sz="quarter" idx="14" hasCustomPrompt="1"/>
          </p:nvPr>
        </p:nvSpPr>
        <p:spPr>
          <a:xfrm>
            <a:off x="1276350" y="4657725"/>
            <a:ext cx="9232900" cy="749300"/>
          </a:xfrm>
        </p:spPr>
        <p:txBody>
          <a:bodyPr>
            <a:normAutofit/>
          </a:bodyPr>
          <a:lstStyle>
            <a:lvl1pPr>
              <a:defRPr sz="32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目錄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6" name="文字版面配置區 12"/>
          <p:cNvSpPr>
            <a:spLocks noGrp="1"/>
          </p:cNvSpPr>
          <p:nvPr>
            <p:ph type="body" sz="quarter" idx="15" hasCustomPrompt="1"/>
          </p:nvPr>
        </p:nvSpPr>
        <p:spPr>
          <a:xfrm>
            <a:off x="1295400" y="2692400"/>
            <a:ext cx="9232900" cy="749300"/>
          </a:xfrm>
        </p:spPr>
        <p:txBody>
          <a:bodyPr>
            <a:normAutofit/>
          </a:bodyPr>
          <a:lstStyle>
            <a:lvl1pPr>
              <a:defRPr sz="32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目錄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8" name="文字版面配置區 12"/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" y="5635625"/>
            <a:ext cx="9232900" cy="749300"/>
          </a:xfrm>
        </p:spPr>
        <p:txBody>
          <a:bodyPr>
            <a:normAutofit/>
          </a:bodyPr>
          <a:lstStyle>
            <a:lvl1pPr>
              <a:defRPr sz="32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目錄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9" name="文字版面配置區 12"/>
          <p:cNvSpPr>
            <a:spLocks noGrp="1"/>
          </p:cNvSpPr>
          <p:nvPr>
            <p:ph type="body" sz="quarter" idx="18" hasCustomPrompt="1"/>
          </p:nvPr>
        </p:nvSpPr>
        <p:spPr>
          <a:xfrm>
            <a:off x="1276350" y="3667125"/>
            <a:ext cx="9232900" cy="749300"/>
          </a:xfrm>
        </p:spPr>
        <p:txBody>
          <a:bodyPr>
            <a:normAutofit/>
          </a:bodyPr>
          <a:lstStyle>
            <a:lvl1pPr>
              <a:defRPr sz="32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目錄</a:t>
            </a:r>
            <a:r>
              <a:rPr lang="en-US" altLang="zh-TW" dirty="0"/>
              <a:t>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9322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3AF0-9BCE-4AF9-8AAB-F0E4C55F729A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D7B5-3272-47E9-A7C3-422D8A2AC3B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0611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3AF0-9BCE-4AF9-8AAB-F0E4C55F729A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D7B5-3272-47E9-A7C3-422D8A2AC3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2027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3AF0-9BCE-4AF9-8AAB-F0E4C55F729A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D7B5-3272-47E9-A7C3-422D8A2AC3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215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3AF0-9BCE-4AF9-8AAB-F0E4C55F729A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D7B5-3272-47E9-A7C3-422D8A2AC3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83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3AF0-9BCE-4AF9-8AAB-F0E4C55F729A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D7B5-3272-47E9-A7C3-422D8A2AC3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5588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3AF0-9BCE-4AF9-8AAB-F0E4C55F729A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D7B5-3272-47E9-A7C3-422D8A2AC3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2887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3AF0-9BCE-4AF9-8AAB-F0E4C55F729A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D7B5-3272-47E9-A7C3-422D8A2AC3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584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3AF0-9BCE-4AF9-8AAB-F0E4C55F729A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D7B5-3272-47E9-A7C3-422D8A2AC3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5778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3AF0-9BCE-4AF9-8AAB-F0E4C55F729A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D7B5-3272-47E9-A7C3-422D8A2AC3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6997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3AF0-9BCE-4AF9-8AAB-F0E4C55F729A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D7B5-3272-47E9-A7C3-422D8A2AC3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1666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3AF0-9BCE-4AF9-8AAB-F0E4C55F729A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D7B5-3272-47E9-A7C3-422D8A2AC3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9542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03AF0-9BCE-4AF9-8AAB-F0E4C55F729A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5D7B5-3272-47E9-A7C3-422D8A2AC3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8653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ursera.org/articles/what-is-data-analysis-with-example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ewhorizons.com/resources/blog/data-analysis-for-research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implilearn.com/data-analysis-methods-process-types-articl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>
          <a:xfrm>
            <a:off x="793750" y="1375954"/>
            <a:ext cx="7029450" cy="672017"/>
          </a:xfrm>
        </p:spPr>
        <p:txBody>
          <a:bodyPr/>
          <a:lstStyle/>
          <a:p>
            <a:pPr algn="ctr"/>
            <a:r>
              <a:rPr lang="en-US" altLang="zh-TW" sz="2400" dirty="0"/>
              <a:t>Department of information technology and management</a:t>
            </a:r>
            <a:endParaRPr lang="zh-TW" altLang="en-US" sz="2400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4"/>
          </p:nvPr>
        </p:nvSpPr>
        <p:spPr>
          <a:xfrm>
            <a:off x="793750" y="481554"/>
            <a:ext cx="10674350" cy="718693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</a:rPr>
              <a:t>Big data for intelligence medical</a:t>
            </a:r>
            <a:endParaRPr lang="zh-TW" alt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5"/>
          </p:nvPr>
        </p:nvSpPr>
        <p:spPr>
          <a:xfrm>
            <a:off x="7975600" y="1375955"/>
            <a:ext cx="3492500" cy="672018"/>
          </a:xfrm>
        </p:spPr>
        <p:txBody>
          <a:bodyPr/>
          <a:lstStyle/>
          <a:p>
            <a:pPr algn="ctr"/>
            <a:r>
              <a:rPr lang="en-US" altLang="zh-TW" dirty="0" err="1" smtClean="0"/>
              <a:t>Chih-cheng</a:t>
            </a:r>
            <a:r>
              <a:rPr lang="en-US" altLang="zh-TW" dirty="0" smtClean="0"/>
              <a:t> Wu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9641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/>
          <p:cNvSpPr txBox="1">
            <a:spLocks/>
          </p:cNvSpPr>
          <p:nvPr/>
        </p:nvSpPr>
        <p:spPr>
          <a:xfrm>
            <a:off x="220295" y="1793966"/>
            <a:ext cx="11625943" cy="3187337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b="1" dirty="0" err="1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Foucs</a:t>
            </a:r>
            <a:r>
              <a:rPr lang="en-US" altLang="zh-TW" b="1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b="1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on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  <a:p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Data analysis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Big /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intelligence medical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07757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Concept of Big </a:t>
            </a:r>
            <a:r>
              <a:rPr lang="en-US" altLang="zh-TW" dirty="0" smtClean="0">
                <a:solidFill>
                  <a:srgbClr val="0000FF"/>
                </a:solidFill>
              </a:rPr>
              <a:t>data Analysis 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1.</a:t>
            </a:r>
            <a:r>
              <a:rPr lang="en-US" altLang="zh-TW" dirty="0" smtClean="0">
                <a:solidFill>
                  <a:srgbClr val="FF0000"/>
                </a:solidFill>
              </a:rPr>
              <a:t>What</a:t>
            </a:r>
            <a:r>
              <a:rPr lang="en-US" altLang="zh-TW" dirty="0" smtClean="0"/>
              <a:t> </a:t>
            </a:r>
            <a:r>
              <a:rPr lang="en-US" altLang="zh-TW" dirty="0"/>
              <a:t>is data analysis ?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TW" dirty="0" smtClean="0"/>
              <a:t>2.</a:t>
            </a:r>
            <a:r>
              <a:rPr lang="en-US" altLang="zh-TW" dirty="0" smtClean="0">
                <a:solidFill>
                  <a:srgbClr val="FF0000"/>
                </a:solidFill>
              </a:rPr>
              <a:t>Why</a:t>
            </a:r>
            <a:r>
              <a:rPr lang="en-US" altLang="zh-TW" dirty="0" smtClean="0"/>
              <a:t> </a:t>
            </a:r>
            <a:r>
              <a:rPr lang="en-US" altLang="zh-TW" dirty="0"/>
              <a:t>need data analysis ?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8"/>
          </p:nvPr>
        </p:nvSpPr>
        <p:spPr>
          <a:xfrm>
            <a:off x="1276350" y="3633258"/>
            <a:ext cx="9232900" cy="749300"/>
          </a:xfrm>
        </p:spPr>
        <p:txBody>
          <a:bodyPr/>
          <a:lstStyle/>
          <a:p>
            <a:r>
              <a:rPr lang="en-US" altLang="zh-TW" dirty="0" smtClean="0"/>
              <a:t>3.</a:t>
            </a:r>
            <a:r>
              <a:rPr lang="en-US" altLang="zh-TW" dirty="0" smtClean="0">
                <a:solidFill>
                  <a:srgbClr val="FF0000"/>
                </a:solidFill>
              </a:rPr>
              <a:t>How</a:t>
            </a:r>
            <a:r>
              <a:rPr lang="en-US" altLang="zh-TW" dirty="0" smtClean="0"/>
              <a:t> 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10" name="文字版面配置區 3"/>
          <p:cNvSpPr>
            <a:spLocks noGrp="1"/>
          </p:cNvSpPr>
          <p:nvPr>
            <p:ph type="body" sz="quarter" idx="14"/>
          </p:nvPr>
        </p:nvSpPr>
        <p:spPr>
          <a:xfrm>
            <a:off x="1295400" y="4750858"/>
            <a:ext cx="9232900" cy="749300"/>
          </a:xfrm>
        </p:spPr>
        <p:txBody>
          <a:bodyPr/>
          <a:lstStyle/>
          <a:p>
            <a:r>
              <a:rPr lang="en-US" altLang="zh-TW" dirty="0" smtClean="0"/>
              <a:t>4.What is </a:t>
            </a:r>
            <a:r>
              <a:rPr lang="en-US" altLang="zh-TW" b="1" dirty="0" smtClean="0">
                <a:solidFill>
                  <a:srgbClr val="FF0000"/>
                </a:solidFill>
              </a:rPr>
              <a:t>Big</a:t>
            </a:r>
            <a:r>
              <a:rPr lang="en-US" altLang="zh-TW" dirty="0" smtClean="0">
                <a:solidFill>
                  <a:srgbClr val="0000FF"/>
                </a:solidFill>
              </a:rPr>
              <a:t> </a:t>
            </a:r>
            <a:r>
              <a:rPr lang="en-US" altLang="zh-TW" dirty="0" smtClean="0"/>
              <a:t>data analysis 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3419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30356"/>
            <a:ext cx="10744200" cy="1146175"/>
          </a:xfrm>
        </p:spPr>
        <p:txBody>
          <a:bodyPr>
            <a:normAutofit/>
          </a:bodyPr>
          <a:lstStyle/>
          <a:p>
            <a:pPr algn="r"/>
            <a:r>
              <a:rPr lang="en-US" altLang="zh-TW" dirty="0">
                <a:solidFill>
                  <a:srgbClr val="0000FF"/>
                </a:solidFill>
              </a:rPr>
              <a:t>1.What is data analysis ?     1/2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8" name="內容版面配置區 2"/>
          <p:cNvSpPr txBox="1">
            <a:spLocks/>
          </p:cNvSpPr>
          <p:nvPr/>
        </p:nvSpPr>
        <p:spPr>
          <a:xfrm>
            <a:off x="952500" y="1630016"/>
            <a:ext cx="10515600" cy="43972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hlinkClick r:id="rId2"/>
              </a:rPr>
              <a:t>What Is Data Analysis? (With Examples)</a:t>
            </a:r>
          </a:p>
          <a:p>
            <a:pPr lvl="1"/>
            <a:r>
              <a:rPr lang="en-US" altLang="zh-TW" dirty="0">
                <a:hlinkClick r:id="rId2"/>
              </a:rPr>
              <a:t>https://www.coursera.org/articles/what-is-data-analysis-with-examples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rgbClr val="FF0000"/>
                </a:solidFill>
                <a:latin typeface="+mn-ea"/>
              </a:rPr>
              <a:t>4 Types : 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1. Descriptive: Over presenting statistics report </a:t>
            </a:r>
            <a:r>
              <a:rPr lang="en-US" altLang="zh-TW" dirty="0">
                <a:solidFill>
                  <a:srgbClr val="FF9900"/>
                </a:solidFill>
                <a:latin typeface="+mn-ea"/>
              </a:rPr>
              <a:t>what happened ?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2. Diagnostic: Determines </a:t>
            </a:r>
            <a:r>
              <a:rPr lang="en-US" altLang="zh-TW" dirty="0">
                <a:solidFill>
                  <a:srgbClr val="FF9900"/>
                </a:solidFill>
                <a:latin typeface="+mn-ea"/>
              </a:rPr>
              <a:t>why did it happen?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3. Predictive: What </a:t>
            </a:r>
            <a:r>
              <a:rPr lang="en-US" altLang="zh-TW" dirty="0">
                <a:solidFill>
                  <a:srgbClr val="FF9900"/>
                </a:solidFill>
                <a:latin typeface="+mn-ea"/>
              </a:rPr>
              <a:t>might happen in the future?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4. Prescriptive: </a:t>
            </a:r>
            <a:r>
              <a:rPr lang="en-US" altLang="zh-TW" dirty="0">
                <a:solidFill>
                  <a:srgbClr val="FF9900"/>
                </a:solidFill>
                <a:latin typeface="+mn-ea"/>
              </a:rPr>
              <a:t>What should we do </a:t>
            </a:r>
            <a:r>
              <a:rPr lang="en-US" altLang="zh-TW" dirty="0">
                <a:solidFill>
                  <a:srgbClr val="0000FF"/>
                </a:solidFill>
                <a:latin typeface="+mn-ea"/>
              </a:rPr>
              <a:t>about it?</a:t>
            </a:r>
            <a:endParaRPr lang="en-US" altLang="zh-TW" dirty="0">
              <a:solidFill>
                <a:srgbClr val="FF0000"/>
              </a:solidFill>
              <a:latin typeface="+mn-ea"/>
            </a:endParaRPr>
          </a:p>
          <a:p>
            <a:pPr lvl="2"/>
            <a:endParaRPr lang="en-US" altLang="zh-TW" dirty="0">
              <a:solidFill>
                <a:srgbClr val="FF0000"/>
              </a:solidFill>
              <a:latin typeface="+mn-ea"/>
            </a:endParaRPr>
          </a:p>
          <a:p>
            <a:pPr marL="914400" lvl="2" indent="0">
              <a:buNone/>
            </a:pPr>
            <a:endParaRPr lang="en-US" altLang="zh-TW" dirty="0">
              <a:solidFill>
                <a:srgbClr val="FF0000"/>
              </a:solidFill>
              <a:latin typeface="+mn-ea"/>
            </a:endParaRPr>
          </a:p>
          <a:p>
            <a:pPr lvl="2"/>
            <a:endParaRPr lang="en-US" altLang="zh-TW" dirty="0">
              <a:solidFill>
                <a:srgbClr val="FF0000"/>
              </a:solidFill>
              <a:latin typeface="+mn-ea"/>
            </a:endParaRPr>
          </a:p>
          <a:p>
            <a:pPr lvl="1"/>
            <a:endParaRPr lang="en-US" altLang="zh-TW" dirty="0">
              <a:solidFill>
                <a:srgbClr val="FF0000"/>
              </a:solidFill>
              <a:latin typeface="+mn-ea"/>
            </a:endParaRPr>
          </a:p>
          <a:p>
            <a:pPr lvl="1"/>
            <a:endParaRPr lang="en-US" altLang="zh-TW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33980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>
                <a:solidFill>
                  <a:srgbClr val="0000FF"/>
                </a:solidFill>
              </a:rPr>
              <a:t>1.What is data analysis ?    2/2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8" name="內容版面配置區 2"/>
          <p:cNvSpPr txBox="1">
            <a:spLocks/>
          </p:cNvSpPr>
          <p:nvPr/>
        </p:nvSpPr>
        <p:spPr>
          <a:xfrm>
            <a:off x="952500" y="1780469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The Power of Data Analysis in Research </a:t>
            </a:r>
            <a:r>
              <a:rPr lang="en-US" altLang="zh-TW" dirty="0">
                <a:solidFill>
                  <a:srgbClr val="FF0000"/>
                </a:solidFill>
              </a:rPr>
              <a:t>(Overview/ Outline)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  <a:latin typeface="+mn-ea"/>
                <a:hlinkClick r:id="rId2"/>
              </a:rPr>
              <a:t>https://www.newhorizons.com/resources/blog/data-analysis-for-research</a:t>
            </a:r>
            <a:endParaRPr lang="en-US" altLang="zh-TW" dirty="0">
              <a:solidFill>
                <a:srgbClr val="FF0000"/>
              </a:solidFill>
              <a:latin typeface="+mn-ea"/>
            </a:endParaRPr>
          </a:p>
          <a:p>
            <a:pPr lvl="1"/>
            <a:r>
              <a:rPr lang="en-US" altLang="zh-TW" dirty="0">
                <a:solidFill>
                  <a:srgbClr val="FF0000"/>
                </a:solidFill>
                <a:latin typeface="+mn-ea"/>
              </a:rPr>
              <a:t>Usually use Tools</a:t>
            </a:r>
            <a:r>
              <a:rPr lang="zh-TW" altLang="en-US" dirty="0">
                <a:solidFill>
                  <a:srgbClr val="FF0000"/>
                </a:solidFill>
                <a:latin typeface="+mn-ea"/>
              </a:rPr>
              <a:t> </a:t>
            </a:r>
            <a:endParaRPr lang="en-US" altLang="zh-TW" dirty="0">
              <a:solidFill>
                <a:srgbClr val="FF0000"/>
              </a:solidFill>
              <a:latin typeface="+mn-ea"/>
            </a:endParaRP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PC :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SPSS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 、</a:t>
            </a:r>
            <a:r>
              <a:rPr lang="en-US" altLang="zh-TW" dirty="0">
                <a:latin typeface="PMingLiU" panose="02020500000000000000" pitchFamily="18" charset="-120"/>
                <a:ea typeface="PMingLiU" panose="02020500000000000000" pitchFamily="18" charset="-120"/>
              </a:rPr>
              <a:t>SAS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、 </a:t>
            </a:r>
            <a:r>
              <a:rPr lang="en-US" altLang="zh-TW" dirty="0" err="1">
                <a:latin typeface="PMingLiU" panose="02020500000000000000" pitchFamily="18" charset="-120"/>
                <a:ea typeface="PMingLiU" panose="02020500000000000000" pitchFamily="18" charset="-120"/>
              </a:rPr>
              <a:t>Rapidminer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 </a:t>
            </a:r>
            <a:r>
              <a:rPr lang="zh-TW" altLang="en-US" dirty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en-US" altLang="zh-TW" dirty="0">
                <a:solidFill>
                  <a:srgbClr val="FF9900"/>
                </a:solidFill>
                <a:latin typeface="+mn-ea"/>
              </a:rPr>
              <a:t>Excel</a:t>
            </a:r>
            <a:endParaRPr lang="en-US" altLang="zh-TW" dirty="0">
              <a:solidFill>
                <a:srgbClr val="FF0000"/>
              </a:solidFill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Language:</a:t>
            </a:r>
            <a:r>
              <a:rPr lang="en-US" altLang="zh-TW" dirty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 Python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en-US" altLang="zh-TW" dirty="0">
                <a:latin typeface="PMingLiU" panose="02020500000000000000" pitchFamily="18" charset="-120"/>
                <a:ea typeface="PMingLiU" panose="02020500000000000000" pitchFamily="18" charset="-120"/>
              </a:rPr>
              <a:t>R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Data visualization: </a:t>
            </a:r>
            <a:r>
              <a:rPr lang="en-US" altLang="zh-TW" dirty="0">
                <a:solidFill>
                  <a:srgbClr val="FF99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Power BI</a:t>
            </a:r>
            <a:r>
              <a:rPr lang="en-US" altLang="zh-TW" dirty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 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、 </a:t>
            </a:r>
            <a:r>
              <a:rPr lang="en-US" altLang="zh-TW" dirty="0">
                <a:latin typeface="PMingLiU" panose="02020500000000000000" pitchFamily="18" charset="-120"/>
                <a:ea typeface="PMingLiU" panose="02020500000000000000" pitchFamily="18" charset="-120"/>
              </a:rPr>
              <a:t>Tableau</a:t>
            </a:r>
          </a:p>
          <a:p>
            <a:pPr lvl="3"/>
            <a:r>
              <a:rPr lang="en-US" altLang="zh-TW" dirty="0">
                <a:latin typeface="PMingLiU" panose="02020500000000000000" pitchFamily="18" charset="-120"/>
                <a:ea typeface="PMingLiU" panose="02020500000000000000" pitchFamily="18" charset="-120"/>
              </a:rPr>
              <a:t>often used in business intelligence to help understand trends and insights.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SQL :</a:t>
            </a:r>
            <a:r>
              <a:rPr lang="en-US" altLang="zh-TW" dirty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 </a:t>
            </a:r>
            <a:r>
              <a:rPr lang="en-US" altLang="zh-TW" dirty="0">
                <a:latin typeface="PMingLiU" panose="02020500000000000000" pitchFamily="18" charset="-120"/>
                <a:ea typeface="PMingLiU" panose="02020500000000000000" pitchFamily="18" charset="-120"/>
              </a:rPr>
              <a:t>Used to extract, manipulate, and aggregate data from relational database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Hadoop Spark and </a:t>
            </a:r>
            <a:r>
              <a:rPr lang="en-US" altLang="zh-TW" dirty="0">
                <a:solidFill>
                  <a:srgbClr val="FF9900"/>
                </a:solidFill>
                <a:latin typeface="+mn-ea"/>
              </a:rPr>
              <a:t>Azure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: </a:t>
            </a:r>
            <a:r>
              <a:rPr lang="en-US" altLang="zh-TW" dirty="0">
                <a:latin typeface="+mn-ea"/>
              </a:rPr>
              <a:t>Cloud DB and Distributed data processing</a:t>
            </a:r>
          </a:p>
          <a:p>
            <a:pPr marL="457200" lvl="1" indent="0">
              <a:buNone/>
            </a:pPr>
            <a:endParaRPr lang="en-US" altLang="zh-TW" dirty="0">
              <a:solidFill>
                <a:srgbClr val="FF0000"/>
              </a:solidFill>
              <a:latin typeface="+mn-ea"/>
            </a:endParaRPr>
          </a:p>
          <a:p>
            <a:pPr lvl="1"/>
            <a:endParaRPr lang="en-US" altLang="zh-TW" dirty="0">
              <a:solidFill>
                <a:srgbClr val="FF0000"/>
              </a:solidFill>
              <a:latin typeface="+mn-ea"/>
            </a:endParaRPr>
          </a:p>
          <a:p>
            <a:pPr lvl="1"/>
            <a:endParaRPr lang="en-US" altLang="zh-TW" dirty="0">
              <a:solidFill>
                <a:srgbClr val="FF0000"/>
              </a:solidFill>
              <a:latin typeface="+mn-ea"/>
            </a:endParaRPr>
          </a:p>
          <a:p>
            <a:pPr lvl="1"/>
            <a:endParaRPr lang="en-US" altLang="zh-TW" dirty="0">
              <a:solidFill>
                <a:srgbClr val="FF0000"/>
              </a:solidFill>
              <a:latin typeface="+mn-ea"/>
            </a:endParaRPr>
          </a:p>
          <a:p>
            <a:pPr lvl="1"/>
            <a:r>
              <a:rPr lang="en-US" altLang="zh-TW" dirty="0">
                <a:solidFill>
                  <a:srgbClr val="FF0000"/>
                </a:solidFill>
                <a:latin typeface="+mn-ea"/>
              </a:rPr>
              <a:t>Applications</a:t>
            </a:r>
            <a:endParaRPr lang="zh-TW" altLang="en-US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56115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2.Why need </a:t>
            </a:r>
            <a:r>
              <a:rPr lang="en-US" altLang="zh-TW" dirty="0">
                <a:solidFill>
                  <a:srgbClr val="FF0000"/>
                </a:solidFill>
              </a:rPr>
              <a:t>data analysis ?</a:t>
            </a:r>
            <a:endParaRPr lang="zh-TW" altLang="en-US" dirty="0"/>
          </a:p>
        </p:txBody>
      </p:sp>
      <p:sp>
        <p:nvSpPr>
          <p:cNvPr id="8" name="內容版面配置區 2"/>
          <p:cNvSpPr txBox="1">
            <a:spLocks/>
          </p:cNvSpPr>
          <p:nvPr/>
        </p:nvSpPr>
        <p:spPr>
          <a:xfrm>
            <a:off x="1066800" y="1632423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What Is Data Analysis: Examples, Types, &amp; Applications</a:t>
            </a:r>
          </a:p>
          <a:p>
            <a:pPr lvl="1"/>
            <a:r>
              <a:rPr lang="en-US" altLang="zh-TW" dirty="0">
                <a:hlinkClick r:id="rId2"/>
              </a:rPr>
              <a:t>https://www.simplilearn.com/data-analysis-methods-process-types-article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rgbClr val="FF0000"/>
                </a:solidFill>
                <a:latin typeface="+mn-ea"/>
              </a:rPr>
              <a:t>Why Data Analysis Important?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1. Decision Making :Improved decision, Predictive insights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2. Optimization and Efficiency: Resource allocation, Cost reduction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3. Competitive Advantage: Market trends and opportunities, Customer insights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4. Risk Management: Identifying and mitigating risks, Forecasting risks</a:t>
            </a:r>
          </a:p>
        </p:txBody>
      </p:sp>
    </p:spTree>
    <p:extLst>
      <p:ext uri="{BB962C8B-B14F-4D97-AF65-F5344CB8AC3E}">
        <p14:creationId xmlns:p14="http://schemas.microsoft.com/office/powerpoint/2010/main" val="4267106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3.How 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8" name="內容版面配置區 2"/>
          <p:cNvSpPr txBox="1">
            <a:spLocks/>
          </p:cNvSpPr>
          <p:nvPr/>
        </p:nvSpPr>
        <p:spPr>
          <a:xfrm>
            <a:off x="1066800" y="1632423"/>
            <a:ext cx="10515600" cy="47842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How To Analyze Data in 7 Simple 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Steps:A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Definitive Guide</a:t>
            </a:r>
          </a:p>
          <a:p>
            <a:pPr lvl="1"/>
            <a:r>
              <a:rPr lang="en-US" altLang="zh-TW" dirty="0"/>
              <a:t>https://www.indeed.com/career-advice/career-development/analyzing-data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+mn-ea"/>
              </a:rPr>
              <a:t>The data analysis process typically involves the following steps: 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1. Define the problem or research question.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2. Collect the relevant data from various sources.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3. Clean and organize the data. </a:t>
            </a:r>
            <a:r>
              <a:rPr lang="en-US" altLang="zh-TW" dirty="0">
                <a:solidFill>
                  <a:srgbClr val="FF9900"/>
                </a:solidFill>
                <a:latin typeface="+mn-ea"/>
              </a:rPr>
              <a:t>(Data Preprocessing)</a:t>
            </a:r>
          </a:p>
          <a:p>
            <a:pPr lvl="2"/>
            <a:r>
              <a:rPr lang="en-US" altLang="zh-TW" b="1" dirty="0">
                <a:latin typeface="+mn-ea"/>
              </a:rPr>
              <a:t>4. Analyze the data.</a:t>
            </a:r>
          </a:p>
          <a:p>
            <a:pPr lvl="2"/>
            <a:r>
              <a:rPr lang="en-US" altLang="zh-TW" b="1" dirty="0">
                <a:solidFill>
                  <a:srgbClr val="FF9900"/>
                </a:solidFill>
                <a:latin typeface="+mn-ea"/>
              </a:rPr>
              <a:t>5.Data visualization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6. Interpret the results of your analysis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7. Communicate the findings.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8. Take action</a:t>
            </a:r>
            <a:r>
              <a:rPr lang="en-US" altLang="zh-TW" sz="1800" dirty="0">
                <a:solidFill>
                  <a:srgbClr val="0000FF"/>
                </a:solidFill>
                <a:latin typeface="+mn-ea"/>
              </a:rPr>
              <a:t>.</a:t>
            </a:r>
          </a:p>
          <a:p>
            <a:pPr marL="0" indent="0">
              <a:buNone/>
            </a:pPr>
            <a:endParaRPr lang="en-US" altLang="zh-TW" dirty="0">
              <a:solidFill>
                <a:srgbClr val="0000FF"/>
              </a:solidFill>
              <a:latin typeface="+mn-ea"/>
            </a:endParaRPr>
          </a:p>
          <a:p>
            <a:pPr lvl="1"/>
            <a:endParaRPr lang="en-US" altLang="zh-TW" dirty="0">
              <a:solidFill>
                <a:srgbClr val="FF0000"/>
              </a:solidFill>
              <a:latin typeface="+mn-ea"/>
            </a:endParaRPr>
          </a:p>
          <a:p>
            <a:pPr lvl="1"/>
            <a:endParaRPr lang="en-US" altLang="zh-TW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4965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66875-3B28-036B-2949-3D6AAA15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FBBD4C-FF6C-8968-B4FA-55928E40F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3.How 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14AED734-664F-BAC8-E303-595B53EDD486}"/>
              </a:ext>
            </a:extLst>
          </p:cNvPr>
          <p:cNvSpPr txBox="1">
            <a:spLocks/>
          </p:cNvSpPr>
          <p:nvPr/>
        </p:nvSpPr>
        <p:spPr>
          <a:xfrm>
            <a:off x="1066800" y="1632423"/>
            <a:ext cx="10515600" cy="47842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How To Analyze Data in 7 Simple 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Steps:A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Definitive Guide</a:t>
            </a:r>
          </a:p>
          <a:p>
            <a:pPr lvl="1"/>
            <a:r>
              <a:rPr lang="en-US" altLang="zh-TW" dirty="0"/>
              <a:t>https://www.indeed.com/career-advice/career-development/analyzing-data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  <a:latin typeface="+mn-ea"/>
              </a:rPr>
              <a:t>Have 7 Simple Steps Need add step : 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8.Analyzing the data. 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9. Interpret the results of your analysis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+mn-ea"/>
              </a:rPr>
              <a:t>The data analysis process typically involves the following steps: 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1. Define the problem or research question.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2. Collect the relevant data from various sources.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3. Clean and organize the data.</a:t>
            </a:r>
          </a:p>
          <a:p>
            <a:pPr lvl="2"/>
            <a:r>
              <a:rPr lang="en-US" altLang="zh-TW" b="1" dirty="0">
                <a:solidFill>
                  <a:srgbClr val="FF9900"/>
                </a:solidFill>
                <a:latin typeface="+mn-ea"/>
              </a:rPr>
              <a:t>4. Analyze the data.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5. Interpret the results.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6. Communicate the findings.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  <a:latin typeface="+mn-ea"/>
              </a:rPr>
              <a:t>7. Take action</a:t>
            </a:r>
            <a:r>
              <a:rPr lang="en-US" altLang="zh-TW" sz="1800" dirty="0">
                <a:solidFill>
                  <a:srgbClr val="0000FF"/>
                </a:solidFill>
                <a:latin typeface="+mn-ea"/>
              </a:rPr>
              <a:t>.</a:t>
            </a:r>
          </a:p>
          <a:p>
            <a:endParaRPr lang="en-US" altLang="zh-TW" dirty="0">
              <a:solidFill>
                <a:srgbClr val="0000FF"/>
              </a:solidFill>
              <a:latin typeface="+mn-ea"/>
            </a:endParaRPr>
          </a:p>
          <a:p>
            <a:pPr lvl="1"/>
            <a:endParaRPr lang="en-US" altLang="zh-TW" dirty="0">
              <a:solidFill>
                <a:srgbClr val="FF0000"/>
              </a:solidFill>
              <a:latin typeface="+mn-ea"/>
            </a:endParaRPr>
          </a:p>
          <a:p>
            <a:pPr lvl="1"/>
            <a:endParaRPr lang="en-US" altLang="zh-TW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5515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zh-TW" dirty="0" smtClean="0">
                <a:solidFill>
                  <a:srgbClr val="0000FF"/>
                </a:solidFill>
              </a:rPr>
              <a:t>4.What </a:t>
            </a:r>
            <a:r>
              <a:rPr lang="en-US" altLang="zh-TW" dirty="0">
                <a:solidFill>
                  <a:srgbClr val="0000FF"/>
                </a:solidFill>
              </a:rPr>
              <a:t>is </a:t>
            </a:r>
            <a:r>
              <a:rPr lang="en-US" altLang="zh-TW" b="1" dirty="0">
                <a:solidFill>
                  <a:srgbClr val="FF0000"/>
                </a:solidFill>
              </a:rPr>
              <a:t>Big</a:t>
            </a:r>
            <a:r>
              <a:rPr lang="en-US" altLang="zh-TW" dirty="0">
                <a:solidFill>
                  <a:srgbClr val="0000FF"/>
                </a:solidFill>
              </a:rPr>
              <a:t> data analysis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FF"/>
                </a:solidFill>
              </a:rPr>
              <a:t>?</a:t>
            </a:r>
            <a:r>
              <a:rPr lang="zh-TW" altLang="en-US" dirty="0">
                <a:solidFill>
                  <a:srgbClr val="0000FF"/>
                </a:solidFill>
              </a:rPr>
              <a:t>   </a:t>
            </a:r>
            <a:r>
              <a:rPr lang="en-US" altLang="zh-TW" dirty="0">
                <a:solidFill>
                  <a:srgbClr val="0000FF"/>
                </a:solidFill>
              </a:rPr>
              <a:t>1/3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8" name="內容版面配置區 2"/>
          <p:cNvSpPr txBox="1">
            <a:spLocks/>
          </p:cNvSpPr>
          <p:nvPr/>
        </p:nvSpPr>
        <p:spPr>
          <a:xfrm>
            <a:off x="1066800" y="1632423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TW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2338252" y="5111932"/>
            <a:ext cx="10515600" cy="4911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>
              <a:solidFill>
                <a:srgbClr val="FF0000"/>
              </a:solidFill>
              <a:latin typeface="+mn-ea"/>
            </a:endParaRPr>
          </a:p>
          <a:p>
            <a:pPr lvl="1"/>
            <a:endParaRPr lang="en-US" altLang="zh-TW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1026" name="Picture 2" descr="Understanding the 3 v's of Big Data | Optaliti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606" y="2053965"/>
            <a:ext cx="4487594" cy="384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BM Big Data characteristics – 3V. Adopted from (Zikopoulos and Eaton... |  Download Scientific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290" y="1696946"/>
            <a:ext cx="4652638" cy="4407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1682044" y="6104709"/>
            <a:ext cx="9031112" cy="383177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Storage Capacity Unit </a:t>
            </a:r>
            <a:r>
              <a:rPr lang="zh-TW" altLang="en-US" dirty="0"/>
              <a:t>：</a:t>
            </a:r>
            <a:r>
              <a:rPr lang="en-US" altLang="zh-TW" dirty="0"/>
              <a:t>Bit, Byte, KB, MB, GB, TB , PB, EB, ZB, YB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9688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zh-TW" dirty="0" smtClean="0">
                <a:solidFill>
                  <a:srgbClr val="0000FF"/>
                </a:solidFill>
              </a:rPr>
              <a:t>4.What </a:t>
            </a:r>
            <a:r>
              <a:rPr lang="en-US" altLang="zh-TW" dirty="0">
                <a:solidFill>
                  <a:srgbClr val="0000FF"/>
                </a:solidFill>
              </a:rPr>
              <a:t>is </a:t>
            </a:r>
            <a:r>
              <a:rPr lang="en-US" altLang="zh-TW" b="1" dirty="0">
                <a:solidFill>
                  <a:srgbClr val="FF0000"/>
                </a:solidFill>
              </a:rPr>
              <a:t>Big</a:t>
            </a:r>
            <a:r>
              <a:rPr lang="en-US" altLang="zh-TW" dirty="0">
                <a:solidFill>
                  <a:srgbClr val="0000FF"/>
                </a:solidFill>
              </a:rPr>
              <a:t> data analysis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FF"/>
                </a:solidFill>
              </a:rPr>
              <a:t>?</a:t>
            </a:r>
            <a:r>
              <a:rPr lang="zh-TW" altLang="en-US" dirty="0">
                <a:solidFill>
                  <a:srgbClr val="0000FF"/>
                </a:solidFill>
              </a:rPr>
              <a:t>   </a:t>
            </a:r>
            <a:r>
              <a:rPr lang="en-US" altLang="zh-TW" dirty="0">
                <a:solidFill>
                  <a:srgbClr val="0000FF"/>
                </a:solidFill>
              </a:rPr>
              <a:t>2/3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8" name="內容版面配置區 2"/>
          <p:cNvSpPr txBox="1">
            <a:spLocks/>
          </p:cNvSpPr>
          <p:nvPr/>
        </p:nvSpPr>
        <p:spPr>
          <a:xfrm>
            <a:off x="1066800" y="1632423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TW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1066800" y="1567543"/>
            <a:ext cx="10515600" cy="4911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/>
              <a:t>In the context of big data analysis, "big" refers to the massive volume of data that is generated from a variety of sources at high speed and in diverse formats. This data is typically </a:t>
            </a:r>
            <a:r>
              <a:rPr lang="en-US" altLang="zh-TW" sz="2400" b="1" dirty="0">
                <a:solidFill>
                  <a:srgbClr val="0000FF"/>
                </a:solidFill>
              </a:rPr>
              <a:t>too</a:t>
            </a:r>
            <a:r>
              <a:rPr lang="en-US" altLang="zh-TW" sz="2400" dirty="0">
                <a:solidFill>
                  <a:srgbClr val="FF0000"/>
                </a:solidFill>
              </a:rPr>
              <a:t> large, complex</a:t>
            </a:r>
            <a:r>
              <a:rPr lang="en-US" altLang="zh-TW" sz="2400" dirty="0"/>
              <a:t>, and </a:t>
            </a:r>
            <a:r>
              <a:rPr lang="en-US" altLang="zh-TW" sz="2400" dirty="0">
                <a:solidFill>
                  <a:srgbClr val="FF0000"/>
                </a:solidFill>
              </a:rPr>
              <a:t>fast-moving</a:t>
            </a:r>
            <a:r>
              <a:rPr lang="en-US" altLang="zh-TW" sz="2400" dirty="0"/>
              <a:t> for </a:t>
            </a:r>
            <a:r>
              <a:rPr lang="en-US" altLang="zh-TW" sz="2400" dirty="0">
                <a:solidFill>
                  <a:srgbClr val="0000FF"/>
                </a:solidFill>
              </a:rPr>
              <a:t>traditional data processing tools </a:t>
            </a:r>
            <a:r>
              <a:rPr lang="en-US" altLang="zh-TW" sz="2400" b="1" dirty="0">
                <a:solidFill>
                  <a:srgbClr val="0000FF"/>
                </a:solidFill>
              </a:rPr>
              <a:t>to</a:t>
            </a:r>
            <a:r>
              <a:rPr lang="en-US" altLang="zh-TW" sz="2400" dirty="0">
                <a:solidFill>
                  <a:srgbClr val="0000FF"/>
                </a:solidFill>
              </a:rPr>
              <a:t> handle efficiently</a:t>
            </a:r>
            <a:r>
              <a:rPr lang="en-US" altLang="zh-TW" sz="2400" dirty="0"/>
              <a:t>. The characteristics of big data are often summarized by the </a:t>
            </a:r>
            <a:r>
              <a:rPr lang="en-US" altLang="zh-TW" sz="2400" b="1" dirty="0"/>
              <a:t>3 Vs</a:t>
            </a:r>
            <a:r>
              <a:rPr lang="en-US" altLang="zh-TW" sz="2400" dirty="0"/>
              <a:t>:</a:t>
            </a:r>
          </a:p>
          <a:p>
            <a:pPr lvl="1"/>
            <a:r>
              <a:rPr lang="en-US" altLang="zh-TW" sz="2000" b="1" dirty="0"/>
              <a:t>Volume</a:t>
            </a:r>
            <a:r>
              <a:rPr lang="en-US" altLang="zh-TW" sz="2000" dirty="0"/>
              <a:t>: Refers to the sheer amount of data. Big data can be measured in terabytes, petabytes, or even </a:t>
            </a:r>
            <a:r>
              <a:rPr lang="en-US" altLang="zh-TW" sz="2000" dirty="0" err="1"/>
              <a:t>exabytes</a:t>
            </a:r>
            <a:r>
              <a:rPr lang="en-US" altLang="zh-TW" sz="2000" dirty="0"/>
              <a:t>. The volume comes from sources like social media, sensors, transactional records, and logs.</a:t>
            </a:r>
          </a:p>
          <a:p>
            <a:pPr lvl="1"/>
            <a:r>
              <a:rPr lang="en-US" altLang="zh-TW" sz="2000" b="1" dirty="0"/>
              <a:t>Variety</a:t>
            </a:r>
            <a:r>
              <a:rPr lang="en-US" altLang="zh-TW" sz="2000" dirty="0"/>
              <a:t>: Refers to </a:t>
            </a:r>
            <a:r>
              <a:rPr lang="en-US" altLang="zh-TW" sz="2000" dirty="0">
                <a:solidFill>
                  <a:srgbClr val="FF0000"/>
                </a:solidFill>
              </a:rPr>
              <a:t>the different types and formats of data</a:t>
            </a:r>
            <a:r>
              <a:rPr lang="en-US" altLang="zh-TW" sz="2000" dirty="0"/>
              <a:t>. Big data can be structured (like databases), </a:t>
            </a:r>
            <a:r>
              <a:rPr lang="en-US" altLang="zh-TW" sz="2000" dirty="0">
                <a:solidFill>
                  <a:srgbClr val="FF0000"/>
                </a:solidFill>
              </a:rPr>
              <a:t>semi-</a:t>
            </a:r>
            <a:r>
              <a:rPr lang="en-US" altLang="zh-TW" sz="2000" dirty="0"/>
              <a:t>structured (like JSON or XML), or </a:t>
            </a:r>
            <a:r>
              <a:rPr lang="en-US" altLang="zh-TW" sz="2000" dirty="0">
                <a:solidFill>
                  <a:srgbClr val="FF0000"/>
                </a:solidFill>
              </a:rPr>
              <a:t>unstructured</a:t>
            </a:r>
            <a:r>
              <a:rPr lang="en-US" altLang="zh-TW" sz="2000" dirty="0"/>
              <a:t> (</a:t>
            </a:r>
            <a:r>
              <a:rPr lang="en-US" altLang="zh-TW" sz="2000" dirty="0">
                <a:solidFill>
                  <a:srgbClr val="0000FF"/>
                </a:solidFill>
              </a:rPr>
              <a:t>like videos, images, or social media posts</a:t>
            </a:r>
            <a:r>
              <a:rPr lang="en-US" altLang="zh-TW" sz="2000" dirty="0"/>
              <a:t>).</a:t>
            </a:r>
          </a:p>
          <a:p>
            <a:pPr lvl="1"/>
            <a:r>
              <a:rPr lang="en-US" altLang="zh-TW" sz="2000" b="1" dirty="0"/>
              <a:t>Velocity</a:t>
            </a:r>
            <a:r>
              <a:rPr lang="en-US" altLang="zh-TW" sz="1600" b="1" dirty="0"/>
              <a:t>(</a:t>
            </a:r>
            <a:r>
              <a:rPr lang="zh-TW" altLang="en-US" sz="1600" b="1" dirty="0"/>
              <a:t>快速</a:t>
            </a:r>
            <a:r>
              <a:rPr lang="en-US" altLang="zh-TW" sz="1600" b="1" dirty="0"/>
              <a:t>)</a:t>
            </a:r>
            <a:r>
              <a:rPr lang="en-US" altLang="zh-TW" sz="1600" dirty="0"/>
              <a:t>: </a:t>
            </a:r>
            <a:r>
              <a:rPr lang="en-US" altLang="zh-TW" sz="2000" dirty="0"/>
              <a:t>Refers to the speed at which data is generated and processed. For example, </a:t>
            </a:r>
            <a:r>
              <a:rPr lang="en-US" altLang="zh-TW" sz="2000" dirty="0">
                <a:solidFill>
                  <a:srgbClr val="FF0000"/>
                </a:solidFill>
              </a:rPr>
              <a:t>streaming data from social media</a:t>
            </a:r>
            <a:r>
              <a:rPr lang="en-US" altLang="zh-TW" sz="2000" dirty="0"/>
              <a:t>, </a:t>
            </a:r>
            <a:r>
              <a:rPr lang="en-US" altLang="zh-TW" sz="2000" dirty="0">
                <a:solidFill>
                  <a:srgbClr val="FF0000"/>
                </a:solidFill>
              </a:rPr>
              <a:t>real-time sensor data from </a:t>
            </a:r>
            <a:r>
              <a:rPr lang="en-US" altLang="zh-TW" sz="2000" dirty="0" err="1">
                <a:solidFill>
                  <a:srgbClr val="FF0000"/>
                </a:solidFill>
              </a:rPr>
              <a:t>IoT</a:t>
            </a:r>
            <a:r>
              <a:rPr lang="en-US" altLang="zh-TW" sz="2000" dirty="0">
                <a:solidFill>
                  <a:srgbClr val="FF0000"/>
                </a:solidFill>
              </a:rPr>
              <a:t> devices</a:t>
            </a:r>
            <a:r>
              <a:rPr lang="en-US" altLang="zh-TW" sz="2000" dirty="0"/>
              <a:t>, or financial transactions require rapid processing.</a:t>
            </a:r>
          </a:p>
          <a:p>
            <a:endParaRPr lang="en-US" altLang="zh-TW" dirty="0">
              <a:solidFill>
                <a:srgbClr val="FF0000"/>
              </a:solidFill>
              <a:latin typeface="+mn-ea"/>
            </a:endParaRPr>
          </a:p>
          <a:p>
            <a:pPr lvl="1"/>
            <a:endParaRPr lang="en-US" altLang="zh-TW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9470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zh-TW" dirty="0" smtClean="0">
                <a:solidFill>
                  <a:srgbClr val="0000FF"/>
                </a:solidFill>
              </a:rPr>
              <a:t>4.What </a:t>
            </a:r>
            <a:r>
              <a:rPr lang="en-US" altLang="zh-TW" dirty="0">
                <a:solidFill>
                  <a:srgbClr val="0000FF"/>
                </a:solidFill>
              </a:rPr>
              <a:t>is </a:t>
            </a:r>
            <a:r>
              <a:rPr lang="en-US" altLang="zh-TW" b="1" dirty="0">
                <a:solidFill>
                  <a:srgbClr val="FF0000"/>
                </a:solidFill>
              </a:rPr>
              <a:t>Big</a:t>
            </a:r>
            <a:r>
              <a:rPr lang="en-US" altLang="zh-TW" dirty="0">
                <a:solidFill>
                  <a:srgbClr val="0000FF"/>
                </a:solidFill>
              </a:rPr>
              <a:t> data analysis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FF"/>
                </a:solidFill>
              </a:rPr>
              <a:t>?   3/3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8" name="內容版面配置區 2"/>
          <p:cNvSpPr txBox="1">
            <a:spLocks/>
          </p:cNvSpPr>
          <p:nvPr/>
        </p:nvSpPr>
        <p:spPr>
          <a:xfrm>
            <a:off x="1066800" y="1632423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TW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1066800" y="1567543"/>
            <a:ext cx="10515600" cy="4911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Additionally, some extend the 3 Vs to include:</a:t>
            </a:r>
          </a:p>
          <a:p>
            <a:pPr lvl="1"/>
            <a:r>
              <a:rPr lang="en-US" altLang="zh-TW" b="1" dirty="0"/>
              <a:t>Veracity</a:t>
            </a:r>
            <a:r>
              <a:rPr lang="en-US" altLang="zh-TW" sz="1600" b="1" dirty="0"/>
              <a:t>(</a:t>
            </a:r>
            <a:r>
              <a:rPr lang="zh-TW" altLang="en-US" sz="1600" b="1" dirty="0"/>
              <a:t>真實</a:t>
            </a:r>
            <a:r>
              <a:rPr lang="en-US" altLang="zh-TW" sz="1600" b="1" dirty="0"/>
              <a:t>)</a:t>
            </a:r>
            <a:r>
              <a:rPr lang="en-US" altLang="zh-TW" dirty="0"/>
              <a:t>:</a:t>
            </a:r>
            <a:r>
              <a:rPr lang="en-US" altLang="zh-TW" sz="1600" dirty="0"/>
              <a:t> </a:t>
            </a:r>
            <a:r>
              <a:rPr lang="en-US" altLang="zh-TW" dirty="0"/>
              <a:t>The trustworthiness or quality of the data.</a:t>
            </a:r>
          </a:p>
          <a:p>
            <a:pPr lvl="1"/>
            <a:r>
              <a:rPr lang="en-US" altLang="zh-TW" b="1" dirty="0"/>
              <a:t>Value</a:t>
            </a:r>
            <a:r>
              <a:rPr lang="en-US" altLang="zh-TW" sz="1600" b="1" dirty="0"/>
              <a:t>(</a:t>
            </a:r>
            <a:r>
              <a:rPr lang="zh-TW" altLang="en-US" sz="1600" b="1" dirty="0"/>
              <a:t>有價值</a:t>
            </a:r>
            <a:r>
              <a:rPr lang="en-US" altLang="zh-TW" sz="1600" b="1" dirty="0"/>
              <a:t>)</a:t>
            </a:r>
            <a:r>
              <a:rPr lang="en-US" altLang="zh-TW" dirty="0"/>
              <a:t>: The potential insights or benefits that can be derived from analyzing big data.</a:t>
            </a:r>
          </a:p>
          <a:p>
            <a:r>
              <a:rPr lang="en-US" altLang="zh-TW" dirty="0"/>
              <a:t>Big data analysis involves using specialized tools and technologies like </a:t>
            </a:r>
            <a:r>
              <a:rPr lang="en-US" altLang="zh-TW" dirty="0">
                <a:solidFill>
                  <a:srgbClr val="FF0000"/>
                </a:solidFill>
              </a:rPr>
              <a:t>Hadoop, Spark</a:t>
            </a:r>
            <a:r>
              <a:rPr lang="en-US" altLang="zh-TW" dirty="0"/>
              <a:t>, and </a:t>
            </a:r>
            <a:r>
              <a:rPr lang="en-US" altLang="zh-TW" dirty="0">
                <a:solidFill>
                  <a:srgbClr val="FF0000"/>
                </a:solidFill>
              </a:rPr>
              <a:t>machine learning </a:t>
            </a:r>
            <a:r>
              <a:rPr lang="en-US" altLang="zh-TW" dirty="0"/>
              <a:t>models to process, analyze, and derive meaningful insights from this complex and voluminous data.</a:t>
            </a:r>
          </a:p>
          <a:p>
            <a:pPr marL="0" indent="0">
              <a:buNone/>
            </a:pPr>
            <a:endParaRPr lang="en-US" altLang="zh-TW" dirty="0">
              <a:solidFill>
                <a:srgbClr val="FF0000"/>
              </a:solidFill>
              <a:latin typeface="+mn-ea"/>
            </a:endParaRPr>
          </a:p>
          <a:p>
            <a:pPr lvl="1"/>
            <a:endParaRPr lang="en-US" altLang="zh-TW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16984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MS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QL Practice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853070" cy="4351338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altLang="zh-TW" dirty="0"/>
              <a:t>IP: 203.68.62.33</a:t>
            </a:r>
          </a:p>
          <a:p>
            <a:r>
              <a:rPr lang="en-US" altLang="zh-TW" dirty="0"/>
              <a:t>ID: </a:t>
            </a:r>
            <a:r>
              <a:rPr lang="en-US" altLang="zh-TW" dirty="0" err="1"/>
              <a:t>Exc</a:t>
            </a:r>
            <a:endParaRPr lang="en-US" altLang="zh-TW" dirty="0"/>
          </a:p>
          <a:p>
            <a:r>
              <a:rPr lang="en-US" altLang="zh-TW" dirty="0"/>
              <a:t>Password: </a:t>
            </a:r>
            <a:r>
              <a:rPr lang="en-US" altLang="zh-TW" dirty="0" err="1"/>
              <a:t>Excpwd</a:t>
            </a:r>
            <a:r>
              <a:rPr lang="en-US" altLang="zh-TW" dirty="0"/>
              <a:t/>
            </a:r>
            <a:br>
              <a:rPr lang="en-US" altLang="zh-TW" dirty="0"/>
            </a:br>
            <a:endParaRPr lang="en-US" altLang="zh-TW" dirty="0"/>
          </a:p>
          <a:p>
            <a:r>
              <a:rPr lang="en-US" altLang="zh-TW" dirty="0">
                <a:solidFill>
                  <a:srgbClr val="FF0000"/>
                </a:solidFill>
              </a:rPr>
              <a:t>1.Create table</a:t>
            </a:r>
          </a:p>
          <a:p>
            <a:pPr lvl="1"/>
            <a:r>
              <a:rPr lang="en-US" altLang="zh-TW" dirty="0"/>
              <a:t>Field name</a:t>
            </a:r>
          </a:p>
          <a:p>
            <a:pPr lvl="1"/>
            <a:r>
              <a:rPr lang="en-US" altLang="zh-TW" dirty="0"/>
              <a:t>Field type</a:t>
            </a:r>
          </a:p>
          <a:p>
            <a:pPr lvl="1"/>
            <a:r>
              <a:rPr lang="en-US" altLang="zh-TW" dirty="0"/>
              <a:t>Field length</a:t>
            </a:r>
            <a:endParaRPr lang="zh-TW" altLang="en-US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5480815" y="1690688"/>
            <a:ext cx="3853070" cy="435133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Select statement/syntax</a:t>
            </a:r>
          </a:p>
          <a:p>
            <a:endParaRPr lang="en-US" altLang="zh-TW" dirty="0"/>
          </a:p>
          <a:p>
            <a:r>
              <a:rPr lang="en-US" altLang="zh-TW" dirty="0">
                <a:solidFill>
                  <a:srgbClr val="FF0000"/>
                </a:solidFill>
              </a:rPr>
              <a:t>W</a:t>
            </a:r>
            <a:r>
              <a:rPr lang="en-US" altLang="zh-TW" sz="2400" dirty="0">
                <a:solidFill>
                  <a:srgbClr val="FF0000"/>
                </a:solidFill>
              </a:rPr>
              <a:t>3</a:t>
            </a:r>
            <a:r>
              <a:rPr lang="en-US" altLang="zh-TW" dirty="0">
                <a:solidFill>
                  <a:srgbClr val="FF0000"/>
                </a:solidFill>
              </a:rPr>
              <a:t>Schools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Structured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</a:rPr>
              <a:t>SQL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semi-</a:t>
            </a:r>
            <a:r>
              <a:rPr lang="en-US" altLang="zh-TW" dirty="0"/>
              <a:t>Structured </a:t>
            </a:r>
          </a:p>
          <a:p>
            <a:pPr lvl="2"/>
            <a:r>
              <a:rPr lang="en-US" altLang="zh-TW" dirty="0"/>
              <a:t>JSON or XML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un</a:t>
            </a:r>
            <a:r>
              <a:rPr lang="en-US" altLang="zh-TW" dirty="0"/>
              <a:t>structured</a:t>
            </a:r>
          </a:p>
          <a:p>
            <a:pPr lvl="2"/>
            <a:r>
              <a:rPr lang="en-US" altLang="zh-TW" dirty="0"/>
              <a:t>Videos, social media post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48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708</Words>
  <Application>Microsoft Office PowerPoint</Application>
  <PresentationFormat>寬螢幕</PresentationFormat>
  <Paragraphs>102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新細明體</vt:lpstr>
      <vt:lpstr>新細明體</vt:lpstr>
      <vt:lpstr>標楷體</vt:lpstr>
      <vt:lpstr>Arial</vt:lpstr>
      <vt:lpstr>Calibri</vt:lpstr>
      <vt:lpstr>Calibri Light</vt:lpstr>
      <vt:lpstr>Office 佈景主題</vt:lpstr>
      <vt:lpstr>PowerPoint 簡報</vt:lpstr>
      <vt:lpstr>PowerPoint 簡報</vt:lpstr>
      <vt:lpstr>Concept of Big data Analysis  </vt:lpstr>
      <vt:lpstr>1.What is data analysis ?     1/2</vt:lpstr>
      <vt:lpstr>1.What is data analysis ?    2/2</vt:lpstr>
      <vt:lpstr>2.Why need data analysis ?</vt:lpstr>
      <vt:lpstr>3.How ?</vt:lpstr>
      <vt:lpstr>3.How ?</vt:lpstr>
      <vt:lpstr>4.What is Big data analysis ?   1/3</vt:lpstr>
      <vt:lpstr>4.What is Big data analysis ?   2/3</vt:lpstr>
      <vt:lpstr>4.What is Big data analysis ?   3/3</vt:lpstr>
      <vt:lpstr>MS SQL 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hp</cp:lastModifiedBy>
  <cp:revision>46</cp:revision>
  <dcterms:created xsi:type="dcterms:W3CDTF">2024-08-28T01:50:00Z</dcterms:created>
  <dcterms:modified xsi:type="dcterms:W3CDTF">2026-01-12T13:33:24Z</dcterms:modified>
</cp:coreProperties>
</file>