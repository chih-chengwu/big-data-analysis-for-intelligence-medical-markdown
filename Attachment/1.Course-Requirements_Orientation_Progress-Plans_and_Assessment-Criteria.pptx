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81" r:id="rId3"/>
    <p:sldId id="270" r:id="rId4"/>
    <p:sldId id="282" r:id="rId5"/>
    <p:sldId id="283" r:id="rId6"/>
    <p:sldId id="284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007080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Assessment Criteria</a:t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Course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Orientation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and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Classroom Requirements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32408"/>
          </a:xfrm>
        </p:spPr>
        <p:txBody>
          <a:bodyPr>
            <a:normAutofit fontScale="92500" lnSpcReduction="20000"/>
          </a:bodyPr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Second </a:t>
            </a: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semester of the 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113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sz="28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Big </a:t>
            </a: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for intelligence 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medical</a:t>
            </a:r>
          </a:p>
          <a:p>
            <a:endParaRPr lang="en-US" altLang="zh-TW" sz="28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Teacher: </a:t>
            </a:r>
            <a:r>
              <a:rPr lang="en-US" altLang="zh-TW" sz="2800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chih</a:t>
            </a:r>
            <a:r>
              <a:rPr lang="en-US" altLang="zh-TW" sz="2800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en-US" altLang="zh-TW" sz="2800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cheng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Wu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245806"/>
            <a:ext cx="10515600" cy="113815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Big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for intelligence medical 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Semester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Assessment Criteria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00582" y="1673523"/>
            <a:ext cx="5100673" cy="4830793"/>
            <a:chOff x="1595177" y="189781"/>
            <a:chExt cx="6384257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Classroom behavior + 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Attendance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Assignment </a:t>
              </a: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%(12week)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922919" cy="966157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Final exam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/>
              </a:r>
              <a:b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</a:b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paper report</a:t>
              </a: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25%(18week)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1595177" y="4075981"/>
              <a:ext cx="3248555" cy="966157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Mid-term </a:t>
              </a:r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exam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err="1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Kaggle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 report</a:t>
              </a: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 (9week)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468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245806"/>
            <a:ext cx="10515600" cy="113815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Big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for intelligence medical 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Course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Progress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Plans </a:t>
            </a:r>
            <a:endParaRPr lang="zh-TW" altLang="en-US" dirty="0"/>
          </a:p>
        </p:txBody>
      </p:sp>
      <p:sp>
        <p:nvSpPr>
          <p:cNvPr id="9" name="內容版面配置區 2"/>
          <p:cNvSpPr txBox="1">
            <a:spLocks/>
          </p:cNvSpPr>
          <p:nvPr/>
        </p:nvSpPr>
        <p:spPr>
          <a:xfrm>
            <a:off x="838200" y="1533669"/>
            <a:ext cx="10515600" cy="522493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內容版面配置區 2"/>
          <p:cNvSpPr txBox="1">
            <a:spLocks/>
          </p:cNvSpPr>
          <p:nvPr/>
        </p:nvSpPr>
        <p:spPr>
          <a:xfrm>
            <a:off x="1017161" y="1504762"/>
            <a:ext cx="10157678" cy="52008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1~8 week【Model-</a:t>
            </a:r>
            <a:r>
              <a:rPr lang="en-US" altLang="zh-TW" sz="26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</a:p>
          <a:p>
            <a:pPr lvl="1"/>
            <a:r>
              <a:rPr lang="en-US" altLang="zh-TW" sz="2200" dirty="0">
                <a:latin typeface="標楷體" panose="03000509000000000000" pitchFamily="65" charset="-120"/>
                <a:ea typeface="標楷體" panose="03000509000000000000" pitchFamily="65" charset="-120"/>
              </a:rPr>
              <a:t>Explaining Big Data Analysis </a:t>
            </a:r>
          </a:p>
          <a:p>
            <a:pPr lvl="2"/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Procedure</a:t>
            </a:r>
            <a:r>
              <a:rPr lang="zh-TW" altLang="en-US" sz="1800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sz="1800" dirty="0">
                <a:latin typeface="PMingLiU" panose="02020500000000000000" pitchFamily="18" charset="-120"/>
                <a:ea typeface="PMingLiU" panose="02020500000000000000" pitchFamily="18" charset="-120"/>
              </a:rPr>
              <a:t>Algorithm overview</a:t>
            </a:r>
            <a:r>
              <a:rPr lang="zh-TW" altLang="en-US" sz="1800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sz="1800" dirty="0">
                <a:latin typeface="PMingLiU" panose="02020500000000000000" pitchFamily="18" charset="-120"/>
                <a:ea typeface="PMingLiU" panose="02020500000000000000" pitchFamily="18" charset="-120"/>
              </a:rPr>
              <a:t> Interpret the results </a:t>
            </a:r>
            <a:endParaRPr lang="en-US" altLang="zh-TW" sz="2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2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Introduce &amp; Explain &amp; Present </a:t>
            </a:r>
            <a:r>
              <a:rPr lang="en-US" altLang="zh-TW" sz="22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en-US" altLang="zh-TW" sz="2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example project </a:t>
            </a:r>
          </a:p>
          <a:p>
            <a:pPr lvl="1"/>
            <a:r>
              <a:rPr lang="en-US" altLang="zh-TW" sz="2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9th week Presentation</a:t>
            </a:r>
            <a:endParaRPr lang="en-US" altLang="zh-TW" sz="22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sz="2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9~11 week【Model-</a:t>
            </a:r>
            <a:r>
              <a:rPr lang="en-US" altLang="zh-TW" sz="26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】 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Example python syntax and skill to achieve </a:t>
            </a:r>
          </a:p>
          <a:p>
            <a:pPr lvl="1"/>
            <a:r>
              <a:rPr lang="en-US" altLang="zh-TW" sz="2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12th </a:t>
            </a:r>
            <a:r>
              <a:rPr lang="en-US" altLang="zh-TW" sz="2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week </a:t>
            </a:r>
            <a:r>
              <a:rPr lang="en-US" altLang="zh-TW" sz="2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assignment</a:t>
            </a:r>
            <a:endParaRPr lang="en-US" altLang="zh-TW" sz="22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6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12~18 week【Model-</a:t>
            </a:r>
            <a:r>
              <a:rPr lang="en-US" altLang="zh-TW" sz="26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】 </a:t>
            </a:r>
          </a:p>
          <a:p>
            <a:pPr lvl="1"/>
            <a:r>
              <a:rPr lang="en-US" altLang="zh-TW" sz="2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Give some talks</a:t>
            </a:r>
          </a:p>
          <a:p>
            <a:pPr lvl="1"/>
            <a:r>
              <a:rPr lang="en-US" altLang="zh-TW" sz="2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18 week paper report</a:t>
            </a:r>
            <a:endParaRPr lang="en-US" altLang="zh-TW" sz="26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989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1~8 week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【Model-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553136"/>
              </p:ext>
            </p:extLst>
          </p:nvPr>
        </p:nvGraphicFramePr>
        <p:xfrm>
          <a:off x="777240" y="1364071"/>
          <a:ext cx="10515600" cy="494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263">
                  <a:extLst>
                    <a:ext uri="{9D8B030D-6E8A-4147-A177-3AD203B41FA5}">
                      <a16:colId xmlns:a16="http://schemas.microsoft.com/office/drawing/2014/main" val="1181664445"/>
                    </a:ext>
                  </a:extLst>
                </a:gridCol>
                <a:gridCol w="6159137">
                  <a:extLst>
                    <a:ext uri="{9D8B030D-6E8A-4147-A177-3AD203B41FA5}">
                      <a16:colId xmlns:a16="http://schemas.microsoft.com/office/drawing/2014/main" val="352221413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32320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Week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Course Topic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Chinese-Course Topic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921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to Big Data Analytics and Python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大數據分析導論與 </a:t>
                      </a:r>
                      <a:r>
                        <a:rPr lang="en-US" altLang="zh-TW" dirty="0"/>
                        <a:t>Python </a:t>
                      </a:r>
                      <a:r>
                        <a:rPr lang="zh-TW" altLang="en-US" dirty="0"/>
                        <a:t>環境建置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372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Acquisition and Data Understanding with 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使用 </a:t>
                      </a:r>
                      <a:r>
                        <a:rPr lang="en-US" altLang="zh-TW" dirty="0"/>
                        <a:t>Pandas </a:t>
                      </a:r>
                      <a:r>
                        <a:rPr lang="zh-TW" altLang="en-US" dirty="0"/>
                        <a:t>進行資料取得與資料理解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83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Cleaning and Data Preprocessing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資料清理與資料前處理技術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282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Exploratory Data Analysis and Data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探索性資料分析（</a:t>
                      </a:r>
                      <a:r>
                        <a:rPr lang="en-US" altLang="zh-TW"/>
                        <a:t>EDA</a:t>
                      </a:r>
                      <a:r>
                        <a:rPr lang="zh-TW" altLang="en-US"/>
                        <a:t>）與資料視覺化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791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Feature Engineering and Data </a:t>
                      </a:r>
                      <a:r>
                        <a:rPr lang="en-US" dirty="0" smtClean="0"/>
                        <a:t>Transformation</a:t>
                      </a:r>
                      <a:r>
                        <a:rPr lang="zh-TW" altLang="en-US" dirty="0" smtClean="0"/>
                        <a:t> </a:t>
                      </a:r>
                      <a:r>
                        <a:rPr lang="en-US" altLang="zh-TW" dirty="0" smtClean="0"/>
                        <a:t>and </a:t>
                      </a:r>
                      <a:br>
                        <a:rPr lang="en-US" altLang="zh-TW" dirty="0" smtClean="0"/>
                      </a:br>
                      <a:r>
                        <a:rPr lang="en-US" altLang="zh-TW" dirty="0" smtClean="0"/>
                        <a:t>Machine Learning Fundamentals for Big 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特徵工程與資料</a:t>
                      </a:r>
                      <a:r>
                        <a:rPr lang="zh-TW" altLang="en-US" dirty="0" smtClean="0"/>
                        <a:t>轉換暨大數據分析的機器學習基礎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0044735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 Evaluation, Optimization, and End-to-End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模型評估、優化與端到端分析流程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2804512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Kaggle</a:t>
                      </a:r>
                      <a:r>
                        <a:rPr lang="en-US" dirty="0" smtClean="0"/>
                        <a:t> Platform Overview &amp; Winning Notebooks Analysis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Kaggle</a:t>
                      </a:r>
                      <a:r>
                        <a:rPr lang="en-US" altLang="zh-TW" dirty="0" smtClean="0"/>
                        <a:t> </a:t>
                      </a:r>
                      <a:r>
                        <a:rPr lang="zh-TW" altLang="en-US" dirty="0" smtClean="0"/>
                        <a:t>平台概覽與獲勝筆記本分析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298719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Student </a:t>
                      </a:r>
                      <a:r>
                        <a:rPr lang="en-US" altLang="zh-TW" dirty="0" err="1" smtClean="0">
                          <a:solidFill>
                            <a:srgbClr val="FF0000"/>
                          </a:solidFill>
                        </a:rPr>
                        <a:t>Kaggle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 Project Presentation &amp; Peer Review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學生</a:t>
                      </a:r>
                      <a:r>
                        <a:rPr lang="en-US" altLang="zh-TW" dirty="0" err="1" smtClean="0"/>
                        <a:t>Kaggle</a:t>
                      </a:r>
                      <a:r>
                        <a:rPr lang="zh-TW" altLang="en-US" dirty="0" smtClean="0"/>
                        <a:t>專案發表與同儕評審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962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48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9~11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week【Model-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575106"/>
              </p:ext>
            </p:extLst>
          </p:nvPr>
        </p:nvGraphicFramePr>
        <p:xfrm>
          <a:off x="838200" y="1825625"/>
          <a:ext cx="10515600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3183">
                  <a:extLst>
                    <a:ext uri="{9D8B030D-6E8A-4147-A177-3AD203B41FA5}">
                      <a16:colId xmlns:a16="http://schemas.microsoft.com/office/drawing/2014/main" val="3215155675"/>
                    </a:ext>
                  </a:extLst>
                </a:gridCol>
                <a:gridCol w="6037217">
                  <a:extLst>
                    <a:ext uri="{9D8B030D-6E8A-4147-A177-3AD203B41FA5}">
                      <a16:colId xmlns:a16="http://schemas.microsoft.com/office/drawing/2014/main" val="9535128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24686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Week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Subject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Chinese-Subject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73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GUI Programming with </a:t>
                      </a:r>
                      <a:r>
                        <a:rPr lang="en-US" dirty="0" err="1"/>
                        <a:t>Tkinter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使用 </a:t>
                      </a:r>
                      <a:r>
                        <a:rPr lang="en-US" altLang="zh-TW"/>
                        <a:t>Tkinter </a:t>
                      </a:r>
                      <a:r>
                        <a:rPr lang="zh-TW" altLang="en-US"/>
                        <a:t>進行 </a:t>
                      </a:r>
                      <a:r>
                        <a:rPr lang="en-US" altLang="zh-TW"/>
                        <a:t>Python </a:t>
                      </a:r>
                      <a:r>
                        <a:rPr lang="zh-TW" altLang="en-US"/>
                        <a:t>圖形介面程式設計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62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 Design and SQLite Integration in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資料庫設計與 </a:t>
                      </a:r>
                      <a:r>
                        <a:rPr lang="en-US" altLang="zh-TW"/>
                        <a:t>SQLite </a:t>
                      </a:r>
                      <a:r>
                        <a:rPr lang="zh-TW" altLang="en-US"/>
                        <a:t>在 </a:t>
                      </a:r>
                      <a:r>
                        <a:rPr lang="en-US" altLang="zh-TW"/>
                        <a:t>Python </a:t>
                      </a:r>
                      <a:r>
                        <a:rPr lang="zh-TW" altLang="en-US"/>
                        <a:t>中的整合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3599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TW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CRUD Application Development and Data Export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CRUD </a:t>
                      </a:r>
                      <a:r>
                        <a:rPr lang="zh-TW" altLang="en-US" dirty="0"/>
                        <a:t>應用程式開發與資料匯出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409936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12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Student Presentation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236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42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12~18 week【Model-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】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733107"/>
              </p:ext>
            </p:extLst>
          </p:nvPr>
        </p:nvGraphicFramePr>
        <p:xfrm>
          <a:off x="838200" y="1825625"/>
          <a:ext cx="10515600" cy="328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766">
                  <a:extLst>
                    <a:ext uri="{9D8B030D-6E8A-4147-A177-3AD203B41FA5}">
                      <a16:colId xmlns:a16="http://schemas.microsoft.com/office/drawing/2014/main" val="3473549036"/>
                    </a:ext>
                  </a:extLst>
                </a:gridCol>
                <a:gridCol w="6054634">
                  <a:extLst>
                    <a:ext uri="{9D8B030D-6E8A-4147-A177-3AD203B41FA5}">
                      <a16:colId xmlns:a16="http://schemas.microsoft.com/office/drawing/2014/main" val="33620714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6526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Week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Subject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Chinese-Subject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47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Research Paper Structure and Experimental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期刊論文結構與實驗設計解析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6001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Evaluation Metrics for Classification and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分類與預測模型的評估指標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927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Evaluation Metrics for Segmentation and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分割與相似度評估指標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317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Model Comparison, Statistical Validation, and Ablation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模型比較、統計驗證與消融實驗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21246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to Read, Critique, and Present Journal Papers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期刊論文的閱讀、評論與報告技巧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68422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17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Final</a:t>
                      </a:r>
                      <a:r>
                        <a:rPr lang="en-US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Presentation-I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03593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18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mtClean="0">
                          <a:solidFill>
                            <a:srgbClr val="FF0000"/>
                          </a:solidFill>
                        </a:rPr>
                        <a:t>Final Presentation-II</a:t>
                      </a:r>
                      <a:endParaRPr lang="en-US" altLang="zh-TW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348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584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3098</TotalTime>
  <Words>351</Words>
  <Application>Microsoft Office PowerPoint</Application>
  <PresentationFormat>寬螢幕</PresentationFormat>
  <Paragraphs>100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PMingLiU</vt:lpstr>
      <vt:lpstr>PMingLiU</vt:lpstr>
      <vt:lpstr>標楷體</vt:lpstr>
      <vt:lpstr>Arial</vt:lpstr>
      <vt:lpstr>Calibri</vt:lpstr>
      <vt:lpstr>Calibri Light</vt:lpstr>
      <vt:lpstr>Office 佈景主題</vt:lpstr>
      <vt:lpstr>Assessment Criteria Course Orientation  and Classroom Requirements</vt:lpstr>
      <vt:lpstr>PowerPoint 簡報</vt:lpstr>
      <vt:lpstr>PowerPoint 簡報</vt:lpstr>
      <vt:lpstr>1~8 week【Model-1】</vt:lpstr>
      <vt:lpstr>9~11 week【Model-2】</vt:lpstr>
      <vt:lpstr>12~18 week【Model-3】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hp</cp:lastModifiedBy>
  <cp:revision>125</cp:revision>
  <dcterms:created xsi:type="dcterms:W3CDTF">2023-02-10T08:39:17Z</dcterms:created>
  <dcterms:modified xsi:type="dcterms:W3CDTF">2026-01-12T13:17:18Z</dcterms:modified>
</cp:coreProperties>
</file>